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63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E69"/>
    <a:srgbClr val="EC7E32"/>
    <a:srgbClr val="E77E32"/>
    <a:srgbClr val="E77E6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4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4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5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16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08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80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07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36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42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57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938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14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95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95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13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99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37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16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534E-BF6C-2CFD-16E9-84EA6172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0B7E-AAA9-C962-786B-78A0B50E6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E0A7F-5868-6266-DF6E-1BBFCC07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1051-4A15-4975-B283-5AE4382EA000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573E-23F6-BE97-E5F6-D90496C5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E5366-8A91-F195-6550-6C84F49F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0F06A4E2-163B-4ABA-8562-AD05AC3F17C5}" type="slidenum">
              <a:rPr lang="en-IN" smtClean="0"/>
              <a:pPr/>
              <a:t>‹#›</a:t>
            </a:fld>
            <a:r>
              <a:rPr lang="en-IN" dirty="0"/>
              <a:t> 75</a:t>
            </a:r>
          </a:p>
        </p:txBody>
      </p:sp>
    </p:spTree>
    <p:extLst>
      <p:ext uri="{BB962C8B-B14F-4D97-AF65-F5344CB8AC3E}">
        <p14:creationId xmlns:p14="http://schemas.microsoft.com/office/powerpoint/2010/main" val="17875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E308-5323-AE5D-6FA7-ED71A6BA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451D-BD97-7FD0-FF0C-A5112C67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1E600-3BBF-7179-64F8-7BF67858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24DB-6B9A-4615-862D-DCC9162E1D46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49D0-589B-356A-C132-17EC125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78BB-28AC-EA14-DC42-29260E08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19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07D0-82DE-FA4A-EADB-1BEC487A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600A5-5C2C-00C3-916A-DF6214B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F5CE-74CC-CF22-710E-082B7D80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CEB4-FD16-4B07-9207-FB300F7B14E0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AAD5-EBF3-6851-32E4-D4FBA96C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3601-9A03-2F15-2F0A-327D55FF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7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E04-DE19-84EF-6EAD-5E68D54F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FCB-7A4F-B695-D2E9-54090A944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C53CD-6C00-99BA-5BD0-0E766D39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50DD-602A-CC85-5499-22E0FF30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9330-105E-4C2D-A945-D7CB0B65AA0D}" type="datetime1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BBE1-B537-7E2E-C2C4-08845C67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4B757-EF27-F899-BAF4-B1881173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A2E0-9C62-08C2-AB3E-B35BC5C5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22F9-75B3-17FE-C283-DD4BECA4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EB91-21C0-BA49-75C9-60FD0E0EF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01927-DF5C-9C56-8562-7016E6572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C59F2-F071-5440-8C46-00C73B7D0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61286-08BE-878F-F428-4DDDD6BC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794-44E1-4BEF-BC28-A1686AB91B35}" type="datetime1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F68E0-6F17-B4CD-53C3-DFC16469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C4CBA-01B5-C2C4-5335-B4EB35E5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B32-7417-39CF-B839-3EEB29A1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A2FE7-36B6-6E9C-5856-38F958DD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09A1-C81B-427D-BCEA-27B741B28E1A}" type="datetime1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31B30-D694-3C06-A324-C1D89994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9968-5814-8F57-EE5C-05F51ABB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3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44DA-A9F6-ED5C-2118-0A44894C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57F5-B3DD-41B2-8AD1-E2C7F01E8325}" type="datetime1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0EC8-C1AB-B577-EA4E-7D2E7D7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9834-7C1C-DD95-00F7-1046CC02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408B-6746-EBBF-A1B8-482E0D54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8A51-0194-E201-F62E-7028F449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DF6D2-0007-C8C6-5E66-A73252FA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9C60F-EE63-63C0-A3C9-201A1DEB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2F12-6279-426C-8A42-8E638B69DA5E}" type="datetime1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8CB9-B2B4-DD3C-DF42-5FF8C80C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FCC53-DC75-9AFB-03C5-B065AC50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14FA-37B6-93A5-E0E8-E926B5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E05A2-0EA7-C30C-EFFA-E0B149436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7175-07C8-0612-615D-57BF8C074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6AA1-2BD7-CB7C-1AA4-34D02985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4110-22B7-47D9-9F58-54C5B302AF6D}" type="datetime1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2950-CA0B-091E-E2BA-A60E75FD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AF4-0554-5223-D39A-DA1DC68D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3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9AE2-374C-4EF3-9532-31D0CE1D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2E305-5684-04F7-337B-C867ECD3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4A89-E93B-DDA0-25FF-C2242EE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75400-B1DF-4AF6-AB50-CBCE8962669C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B2AC-EE20-661D-48EC-09C572C9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A3F4-0238-70CC-420E-0F280FEC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1AF6-9AAD-E282-9DDD-E66CF88AD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3A46-D4B7-3837-9A94-A663DE2A2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3946-DFAA-48C8-71CA-3B250171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D284-3CDB-49DE-A927-05878722C64F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06D7-F25C-47BB-2611-089736A8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11E5-1590-562C-784B-5F2A1B3D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2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F6F91-B629-DA42-57EF-31DA782B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ECB1-08ED-AF18-FDF8-8FE7F9F7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C7C5D-06B8-2007-9878-FF4B74A5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DC9-EB89-D372-7DE5-F164AC424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2DD-B99B-9C26-E756-4CB70ABD4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72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>
                <a:solidFill>
                  <a:srgbClr val="E77E69"/>
                </a:solidFill>
              </a:rPr>
              <a:t>24-09-2026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  <a:t>1</a:t>
            </a:fld>
            <a:endParaRPr lang="en-IN" dirty="0">
              <a:solidFill>
                <a:srgbClr val="E77E6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223842"/>
            <a:ext cx="2174240" cy="151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2618" y="1958791"/>
            <a:ext cx="982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Space-Time Neural Operator Based Video Enhancement System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64925" y="275159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5038" y="3102396"/>
            <a:ext cx="2101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AIM-B12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031" y="5051053"/>
            <a:ext cx="4125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 </a:t>
            </a:r>
            <a:r>
              <a:rPr lang="en-US" dirty="0"/>
              <a:t>Deepthi </a:t>
            </a:r>
            <a:r>
              <a:rPr lang="en-US" dirty="0" err="1"/>
              <a:t>Ketineni</a:t>
            </a:r>
            <a:r>
              <a:rPr lang="en-US" dirty="0"/>
              <a:t> (assistant professor)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09802" y="4107444"/>
            <a:ext cx="260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616" y="4107444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sp>
        <p:nvSpPr>
          <p:cNvPr id="15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rgbClr val="E77E32"/>
                </a:solidFill>
              </a:rPr>
              <a:t>Dept. AIM @ VVIT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40D5E3-AD36-0401-8EFB-5AEC1C175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264957"/>
              </p:ext>
            </p:extLst>
          </p:nvPr>
        </p:nvGraphicFramePr>
        <p:xfrm>
          <a:off x="5963922" y="4582435"/>
          <a:ext cx="7459155" cy="17739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48630">
                  <a:extLst>
                    <a:ext uri="{9D8B030D-6E8A-4147-A177-3AD203B41FA5}">
                      <a16:colId xmlns:a16="http://schemas.microsoft.com/office/drawing/2014/main" val="1430709649"/>
                    </a:ext>
                  </a:extLst>
                </a:gridCol>
                <a:gridCol w="4110525">
                  <a:extLst>
                    <a:ext uri="{9D8B030D-6E8A-4147-A177-3AD203B41FA5}">
                      <a16:colId xmlns:a16="http://schemas.microsoft.com/office/drawing/2014/main" val="4227881644"/>
                    </a:ext>
                  </a:extLst>
                </a:gridCol>
              </a:tblGrid>
              <a:tr h="283790">
                <a:tc>
                  <a:txBody>
                    <a:bodyPr/>
                    <a:lstStyle/>
                    <a:p>
                      <a:r>
                        <a:rPr lang="en-US" dirty="0"/>
                        <a:t>Panchumarthi Tarun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24BQ5A6111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488631"/>
                  </a:ext>
                </a:extLst>
              </a:tr>
              <a:tr h="283790">
                <a:tc>
                  <a:txBody>
                    <a:bodyPr/>
                    <a:lstStyle/>
                    <a:p>
                      <a:r>
                        <a:rPr lang="en-US" dirty="0"/>
                        <a:t>MULLA ASHRAF ALI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23BQ1A6190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81859"/>
                  </a:ext>
                </a:extLst>
              </a:tr>
              <a:tr h="402315">
                <a:tc>
                  <a:txBody>
                    <a:bodyPr/>
                    <a:lstStyle/>
                    <a:p>
                      <a:r>
                        <a:rPr lang="en-US" dirty="0"/>
                        <a:t>PANGA CHINNA KONDAIAH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24BQ5A6133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026814"/>
                  </a:ext>
                </a:extLst>
              </a:tr>
              <a:tr h="496632">
                <a:tc>
                  <a:txBody>
                    <a:bodyPr/>
                    <a:lstStyle/>
                    <a:p>
                      <a:r>
                        <a:rPr lang="en-US" dirty="0"/>
                        <a:t>KANCHARAGUNTA SAI INDRANEEL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23BQ1A6155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369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98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24-09-2026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975898"/>
            <a:ext cx="11920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u="sng" dirty="0">
                <a:cs typeface="Times New Roman" panose="02020603050405020304" pitchFamily="18" charset="0"/>
              </a:rPr>
              <a:t>Problem statement 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C6F7A-059E-58FF-53A1-E3120D7B7422}"/>
              </a:ext>
            </a:extLst>
          </p:cNvPr>
          <p:cNvSpPr txBox="1"/>
          <p:nvPr/>
        </p:nvSpPr>
        <p:spPr>
          <a:xfrm>
            <a:off x="498987" y="1589591"/>
            <a:ext cx="11073253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Low-resolution videos have </a:t>
            </a:r>
            <a:r>
              <a:rPr lang="en-US" b="1" dirty="0"/>
              <a:t>poor visual details and clarity</a:t>
            </a:r>
            <a:r>
              <a:rPr lang="en-US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Low-frame-rate videos often have </a:t>
            </a:r>
            <a:r>
              <a:rPr lang="en-US" b="1" dirty="0"/>
              <a:t>jerky or non-smooth motion</a:t>
            </a:r>
            <a:r>
              <a:rPr lang="en-US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Existing methods usually handle </a:t>
            </a:r>
            <a:r>
              <a:rPr lang="en-US" b="1" dirty="0"/>
              <a:t>resolution enhancement and frame interpolation separately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can cause </a:t>
            </a:r>
            <a:r>
              <a:rPr lang="en-US" b="1" dirty="0"/>
              <a:t>loss of details and motion inconsistencies</a:t>
            </a:r>
            <a:r>
              <a:rPr lang="en-US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Complex movements can lead to </a:t>
            </a:r>
            <a:r>
              <a:rPr lang="en-US" b="1" dirty="0"/>
              <a:t>inaccurate motion estimation and visual artifacts</a:t>
            </a:r>
            <a:r>
              <a:rPr lang="en-US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There is a need to </a:t>
            </a:r>
            <a:r>
              <a:rPr lang="en-US" b="1" dirty="0"/>
              <a:t>jointly learn spatial and temporal information</a:t>
            </a:r>
            <a:r>
              <a:rPr lang="en-US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proposed system uses </a:t>
            </a:r>
            <a:r>
              <a:rPr lang="en-US" b="1" dirty="0"/>
              <a:t>Space-Time Neural Operators (STNO)</a:t>
            </a:r>
            <a:r>
              <a:rPr lang="en-US" dirty="0"/>
              <a:t> to enhance both </a:t>
            </a:r>
            <a:r>
              <a:rPr lang="en-US" b="1" dirty="0"/>
              <a:t>video quality and frame rate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644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807133" y="262225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04186" y="1456570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01 –Space-Time Video Super-resolution with Neural Operator</a:t>
            </a:r>
            <a:br>
              <a:rPr lang="en-US" sz="1600" dirty="0"/>
            </a:br>
            <a:r>
              <a:rPr lang="en-US" sz="1600" i="1" dirty="0"/>
              <a:t>Y. Zhang et al., 2024 | </a:t>
            </a:r>
            <a:r>
              <a:rPr lang="en-US" sz="1600" i="1" dirty="0" err="1"/>
              <a:t>arXiv</a:t>
            </a:r>
            <a:r>
              <a:rPr lang="en-US" sz="1600" i="1" dirty="0"/>
              <a:t> Preprint (Base Paper)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020E2-B278-3B67-B842-25B789CDCA4C}"/>
              </a:ext>
            </a:extLst>
          </p:cNvPr>
          <p:cNvSpPr txBox="1"/>
          <p:nvPr/>
        </p:nvSpPr>
        <p:spPr>
          <a:xfrm>
            <a:off x="325120" y="2034370"/>
            <a:ext cx="10780403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Proposed a </a:t>
            </a:r>
            <a:r>
              <a:rPr lang="en-US" b="1" dirty="0"/>
              <a:t>Space-Time Neural Operator (STNO)</a:t>
            </a:r>
            <a:r>
              <a:rPr lang="en-US" dirty="0"/>
              <a:t> based video enhancement framework.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Extracts </a:t>
            </a:r>
            <a:r>
              <a:rPr lang="en-US" b="1" dirty="0"/>
              <a:t>multi-scale spatial features</a:t>
            </a:r>
            <a:r>
              <a:rPr lang="en-US" dirty="0"/>
              <a:t> from consecutive low-resolution video frames.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 err="1"/>
              <a:t>Galerkin</a:t>
            </a:r>
            <a:r>
              <a:rPr lang="en-US" b="1" dirty="0"/>
              <a:t>-type attention</a:t>
            </a:r>
            <a:r>
              <a:rPr lang="en-US" dirty="0"/>
              <a:t> to capture global motion and texture information efficiently.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Performs </a:t>
            </a:r>
            <a:r>
              <a:rPr lang="en-US" b="1" dirty="0"/>
              <a:t>motion estimation and temporal interpolation</a:t>
            </a:r>
            <a:r>
              <a:rPr lang="en-US" dirty="0"/>
              <a:t> jointly to handle large and complex movements.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bidirectional temporal propagation</a:t>
            </a:r>
            <a:r>
              <a:rPr lang="en-US" dirty="0"/>
              <a:t> to aggregate information from neighboring frames.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Applies </a:t>
            </a:r>
            <a:r>
              <a:rPr lang="en-US" b="1" dirty="0"/>
              <a:t>spatial modulation</a:t>
            </a:r>
            <a:r>
              <a:rPr lang="en-US" dirty="0"/>
              <a:t> to generate high-resolution frames at the desired scale.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Produces </a:t>
            </a:r>
            <a:r>
              <a:rPr lang="en-US" b="1" dirty="0"/>
              <a:t>high-resolution and high-frame-rate videos</a:t>
            </a:r>
            <a:r>
              <a:rPr lang="en-US" dirty="0"/>
              <a:t> with improved details and smoother motion.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F4C88E-6006-E31C-179F-5EA7CF6CA391}"/>
              </a:ext>
            </a:extLst>
          </p:cNvPr>
          <p:cNvSpPr txBox="1"/>
          <p:nvPr/>
        </p:nvSpPr>
        <p:spPr>
          <a:xfrm>
            <a:off x="5042953" y="6529896"/>
            <a:ext cx="20792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/>
                </a:solidFill>
              </a:rPr>
              <a:t>Dept. AIM @ VVIT</a:t>
            </a:r>
          </a:p>
        </p:txBody>
      </p:sp>
    </p:spTree>
    <p:extLst>
      <p:ext uri="{BB962C8B-B14F-4D97-AF65-F5344CB8AC3E}">
        <p14:creationId xmlns:p14="http://schemas.microsoft.com/office/powerpoint/2010/main" val="282606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83367" y="1474440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 01 –Space-Time Video Super-resolution with Neural Operator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Y. Zhang et al., 2024 |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arXiv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Preprint (Base Paper)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EF04A-7C20-0494-8695-A0A5AB7BBB24}"/>
              </a:ext>
            </a:extLst>
          </p:cNvPr>
          <p:cNvSpPr txBox="1"/>
          <p:nvPr/>
        </p:nvSpPr>
        <p:spPr>
          <a:xfrm>
            <a:off x="408196" y="1809492"/>
            <a:ext cx="11257280" cy="444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Vimeo-90K-T</a:t>
            </a:r>
            <a:r>
              <a:rPr lang="en-US" dirty="0"/>
              <a:t> as the primary dataset for space-time video super-resolution evaluation.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Evaluates the method on </a:t>
            </a:r>
            <a:r>
              <a:rPr lang="en-US" b="1" dirty="0"/>
              <a:t>Vid4, Adobe, GoPro, and SPMCS</a:t>
            </a:r>
            <a:r>
              <a:rPr lang="en-US" dirty="0"/>
              <a:t> datasets for different video enhancement tasks.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Input consists of </a:t>
            </a:r>
            <a:r>
              <a:rPr lang="en-US" b="1" dirty="0"/>
              <a:t>consecutive low-resolution video frames</a:t>
            </a:r>
            <a:r>
              <a:rPr lang="en-US" dirty="0"/>
              <a:t> for joint spatial and temporal enhancement.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multi-scale feature extraction</a:t>
            </a:r>
            <a:r>
              <a:rPr lang="en-US" dirty="0"/>
              <a:t> to capture fine details, object structures, and large motion.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Employs </a:t>
            </a:r>
            <a:r>
              <a:rPr lang="en-US" b="1" dirty="0" err="1"/>
              <a:t>Galerkin</a:t>
            </a:r>
            <a:r>
              <a:rPr lang="en-US" b="1" dirty="0"/>
              <a:t>-type attention</a:t>
            </a:r>
            <a:r>
              <a:rPr lang="en-US" dirty="0"/>
              <a:t> to learn global motion and texture relationships between video frames.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forward and backward temporal propagation</a:t>
            </a:r>
            <a:r>
              <a:rPr lang="en-US" dirty="0"/>
              <a:t> to aggregate information from neighboring frames.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Evaluates performance using </a:t>
            </a:r>
            <a:r>
              <a:rPr lang="en-US" b="1" dirty="0"/>
              <a:t>PSNR(</a:t>
            </a:r>
            <a:r>
              <a:rPr lang="en-US" dirty="0"/>
              <a:t>Peak Signal-to-Noise Ratio)</a:t>
            </a:r>
            <a:r>
              <a:rPr lang="en-US" b="1" dirty="0"/>
              <a:t>, SSIM(</a:t>
            </a:r>
            <a:r>
              <a:rPr lang="en-US" dirty="0"/>
              <a:t>Structural Similarity Index Measure)</a:t>
            </a:r>
            <a:r>
              <a:rPr lang="en-US" b="1" dirty="0"/>
              <a:t>, inference speed, and computational complexity</a:t>
            </a:r>
            <a:r>
              <a:rPr lang="en-US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D5C2A7-4E9E-BECB-162C-FF9273D67FDA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069C00-4180-F352-CA32-05DF6DEFED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ECBA7B-BAAD-D2CD-DD41-697FD12281BB}"/>
              </a:ext>
            </a:extLst>
          </p:cNvPr>
          <p:cNvSpPr txBox="1"/>
          <p:nvPr/>
        </p:nvSpPr>
        <p:spPr>
          <a:xfrm>
            <a:off x="1807133" y="279013"/>
            <a:ext cx="742401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2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04186" y="151954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9736" y="862389"/>
            <a:ext cx="99037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01 –Space-Time Video Super-resolution with Neural Operator</a:t>
            </a:r>
            <a:br>
              <a:rPr lang="en-US" sz="1600" dirty="0"/>
            </a:br>
            <a:r>
              <a:rPr lang="en-US" sz="1600" i="1" dirty="0"/>
              <a:t>Y. Zhang et al., 2024 | </a:t>
            </a:r>
            <a:r>
              <a:rPr lang="en-US" sz="1600" i="1" dirty="0" err="1"/>
              <a:t>arXiv</a:t>
            </a:r>
            <a:r>
              <a:rPr lang="en-US" sz="1600" i="1" dirty="0"/>
              <a:t> Preprint (Base Paper)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3EDA6-9815-11D1-AD8F-97A0B18B641D}"/>
              </a:ext>
            </a:extLst>
          </p:cNvPr>
          <p:cNvSpPr txBox="1"/>
          <p:nvPr/>
        </p:nvSpPr>
        <p:spPr>
          <a:xfrm>
            <a:off x="269507" y="1899696"/>
            <a:ext cx="64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proposed </a:t>
            </a:r>
            <a:r>
              <a:rPr lang="en-US" b="1" dirty="0"/>
              <a:t>STNO framework achieved competitive PSNR and SSIM performance</a:t>
            </a:r>
            <a:r>
              <a:rPr lang="en-US" dirty="0"/>
              <a:t> across benchmark video datasets.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STNO showed improved performance in </a:t>
            </a:r>
            <a:r>
              <a:rPr lang="en-US" b="1" dirty="0"/>
              <a:t>large-motion and complex-motion scenes</a:t>
            </a:r>
            <a:r>
              <a:rPr lang="en-US" dirty="0"/>
              <a:t> compared with existing methods.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method jointly performs </a:t>
            </a:r>
            <a:r>
              <a:rPr lang="en-US" b="1" dirty="0"/>
              <a:t>spatial super-resolution and temporal frame interpolation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err="1"/>
              <a:t>Galerkin</a:t>
            </a:r>
            <a:r>
              <a:rPr lang="en-US" b="1" dirty="0"/>
              <a:t>-type attention</a:t>
            </a:r>
            <a:r>
              <a:rPr lang="en-US" dirty="0"/>
              <a:t> effectively captures global </a:t>
            </a:r>
            <a:r>
              <a:rPr lang="en-US" b="1" dirty="0"/>
              <a:t>motion and texture information</a:t>
            </a:r>
            <a:r>
              <a:rPr lang="en-US" dirty="0"/>
              <a:t> for intermediate-frame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proposed method supports </a:t>
            </a:r>
            <a:r>
              <a:rPr lang="en-US" b="1" dirty="0"/>
              <a:t>continuous space-time video super-resolution</a:t>
            </a:r>
            <a:r>
              <a:rPr lang="en-US" dirty="0"/>
              <a:t> with different spatial and temporal scaling factors.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STNO provides </a:t>
            </a:r>
            <a:r>
              <a:rPr lang="en-US" b="1" dirty="0"/>
              <a:t>efficient computation</a:t>
            </a:r>
            <a:r>
              <a:rPr lang="en-US" dirty="0"/>
              <a:t> through its linear-complexity attention mechanism while maintaining strong video quality.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6226B7-6934-AB5B-E476-5C6541BE4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68" t="17201" b="7642"/>
          <a:stretch>
            <a:fillRect/>
          </a:stretch>
        </p:blipFill>
        <p:spPr>
          <a:xfrm>
            <a:off x="6670307" y="1973179"/>
            <a:ext cx="5158723" cy="40981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7CAA4A-A918-6EE8-E46A-76C7D8070EF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3DE801-D8F3-8BF9-C954-4FB2C2D150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A5D233B-6D84-AEEB-305A-42C2144AF97F}"/>
              </a:ext>
            </a:extLst>
          </p:cNvPr>
          <p:cNvSpPr txBox="1"/>
          <p:nvPr/>
        </p:nvSpPr>
        <p:spPr>
          <a:xfrm>
            <a:off x="1807133" y="279013"/>
            <a:ext cx="742401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479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01 –Space-Time Video Super-resolution with Neural Operator</a:t>
            </a:r>
            <a:br>
              <a:rPr lang="en-US" sz="1600" dirty="0"/>
            </a:br>
            <a:r>
              <a:rPr lang="en-US" sz="1600" i="1" dirty="0"/>
              <a:t>Y. Zhang et al., 2024 | </a:t>
            </a:r>
            <a:r>
              <a:rPr lang="en-US" sz="1600" i="1" dirty="0" err="1"/>
              <a:t>arXiv</a:t>
            </a:r>
            <a:r>
              <a:rPr lang="en-US" sz="1600" i="1" dirty="0"/>
              <a:t> Preprint (Base Paper)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Joint spatial-temporal enhancement in a single framework.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Multi-scale features capture details and large motion.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Galerkin</a:t>
            </a:r>
            <a:r>
              <a:rPr lang="en-US" dirty="0">
                <a:solidFill>
                  <a:schemeClr val="tx1"/>
                </a:solidFill>
              </a:rPr>
              <a:t>-type attention efficiently captures global motion and texture.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Handles large and complex motion effectively.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Supports continuous space-time super-resolution.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Maintains efficient computation with good video quality.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Complex architecture with multiple processing stages.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Requires high computational resources.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 face challenges with extreme motion.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Requires large datasets and training resources.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Mainly focuses on STVSR, not general video restoration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40257-7F08-8362-E18D-003515AB2105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1C9FE9C-CBA3-7E7B-A7BE-506E3D1D0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8AE3C55-2218-5D7C-0510-D6421F48E48E}"/>
              </a:ext>
            </a:extLst>
          </p:cNvPr>
          <p:cNvSpPr txBox="1"/>
          <p:nvPr/>
        </p:nvSpPr>
        <p:spPr>
          <a:xfrm>
            <a:off x="1807133" y="279013"/>
            <a:ext cx="742401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8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 01 –Space-Time Video Super-resolution with Neural Operator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Y. Zhang et al., 2024 |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arXiv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Preprint (Base Paper)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3BCDD-02A1-8BE1-0300-F4F9D15AB1E6}"/>
              </a:ext>
            </a:extLst>
          </p:cNvPr>
          <p:cNvSpPr txBox="1"/>
          <p:nvPr/>
        </p:nvSpPr>
        <p:spPr>
          <a:xfrm>
            <a:off x="385011" y="1741918"/>
            <a:ext cx="11165305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Space-Time Neural Operator (STNO) provides the base framework for our video enhancement project.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joint spatial and temporal enhancement.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Multi-scale features help capture details and large motion.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Galerkin</a:t>
            </a:r>
            <a:r>
              <a:rPr lang="en-US" dirty="0"/>
              <a:t>-type attention learns global motion and texture relationships.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Forward/backward propagation uses information from neighboring frames.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generation of high-resolution, high-frame-rate videos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25770-6F22-157A-BED1-10FE6BA7493F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D26DC7-9DFF-C1CF-CD83-3CDC2A1663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11326F4-156A-F204-2B1C-0A72494AF2BE}"/>
              </a:ext>
            </a:extLst>
          </p:cNvPr>
          <p:cNvSpPr txBox="1"/>
          <p:nvPr/>
        </p:nvSpPr>
        <p:spPr>
          <a:xfrm>
            <a:off x="1807133" y="279013"/>
            <a:ext cx="742401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59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Ref 02-</a:t>
            </a:r>
            <a:r>
              <a:rPr lang="en-US" sz="1600" b="1" dirty="0"/>
              <a:t>Enhancing Space-Time Video Super-Resolution via Spatial–Temporal Feature Interaction</a:t>
            </a:r>
          </a:p>
          <a:p>
            <a:r>
              <a:rPr lang="en-US" sz="1600" dirty="0"/>
              <a:t>Yue et al., 2025 | Neural Networks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438E4-F005-DF01-FF9C-57A48C5437B7}"/>
              </a:ext>
            </a:extLst>
          </p:cNvPr>
          <p:cNvSpPr txBox="1"/>
          <p:nvPr/>
        </p:nvSpPr>
        <p:spPr>
          <a:xfrm>
            <a:off x="347760" y="1877447"/>
            <a:ext cx="1134872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Proposed an </a:t>
            </a:r>
            <a:r>
              <a:rPr lang="en-US" b="1" dirty="0"/>
              <a:t>end-to-end Spatial–Temporal Feature Interaction Network (</a:t>
            </a:r>
            <a:r>
              <a:rPr lang="en-US" b="1" dirty="0" err="1"/>
              <a:t>STINet</a:t>
            </a:r>
            <a:r>
              <a:rPr lang="en-US" b="1" dirty="0"/>
              <a:t>)</a:t>
            </a:r>
            <a:r>
              <a:rPr lang="en-US" dirty="0"/>
              <a:t> for Space-Time Video Super-Resolution.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ST-FI:</a:t>
            </a:r>
            <a:r>
              <a:rPr lang="en-US" dirty="0"/>
              <a:t> Generates </a:t>
            </a:r>
            <a:r>
              <a:rPr lang="en-US" b="1" dirty="0"/>
              <a:t>intermediate LR and HR frame features</a:t>
            </a:r>
            <a:r>
              <a:rPr lang="en-US" dirty="0"/>
              <a:t> while allowing them to interact.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ST-LR:</a:t>
            </a:r>
            <a:r>
              <a:rPr lang="en-US" dirty="0"/>
              <a:t> Performs </a:t>
            </a:r>
            <a:r>
              <a:rPr lang="en-US" b="1" dirty="0"/>
              <a:t>local refinement</a:t>
            </a:r>
            <a:r>
              <a:rPr lang="en-US" dirty="0"/>
              <a:t> using information from neighboring frames and motion cues.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ST-GR:</a:t>
            </a:r>
            <a:r>
              <a:rPr lang="en-US" dirty="0"/>
              <a:t> Uses a </a:t>
            </a:r>
            <a:r>
              <a:rPr lang="en-US" b="1" dirty="0"/>
              <a:t>Graph Convolutional Network (GCN)</a:t>
            </a:r>
            <a:r>
              <a:rPr lang="en-US" dirty="0"/>
              <a:t> to exchange </a:t>
            </a:r>
            <a:r>
              <a:rPr lang="en-US" b="1" dirty="0"/>
              <a:t>global spatial-temporal information</a:t>
            </a:r>
            <a:r>
              <a:rPr lang="en-US" dirty="0"/>
              <a:t> between frames and resolutions.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Motion Consistency Loss:</a:t>
            </a:r>
            <a:r>
              <a:rPr lang="en-US" dirty="0"/>
              <a:t> Helps maintain </a:t>
            </a:r>
            <a:r>
              <a:rPr lang="en-US" b="1" dirty="0"/>
              <a:t>smooth and continuous motion</a:t>
            </a:r>
            <a:r>
              <a:rPr lang="en-US" dirty="0"/>
              <a:t> between reconstructed frames.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LR–HR Feature Fusion:</a:t>
            </a:r>
            <a:r>
              <a:rPr lang="en-US" dirty="0"/>
              <a:t> Combines the refined LR and HR features to reconstruct the final video.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Produces a </a:t>
            </a:r>
            <a:r>
              <a:rPr lang="en-US" b="1" dirty="0"/>
              <a:t>high-resolution and high-frame-rate video</a:t>
            </a:r>
            <a:r>
              <a:rPr lang="en-US" dirty="0"/>
              <a:t> from a low-resolution, low-frame-rate input.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159AC-3770-1FE8-EABA-5D822943C469}"/>
              </a:ext>
            </a:extLst>
          </p:cNvPr>
          <p:cNvSpPr txBox="1"/>
          <p:nvPr/>
        </p:nvSpPr>
        <p:spPr>
          <a:xfrm>
            <a:off x="8955476" y="4155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708A24-5090-7178-06EF-DDC32A2D3D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10251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611BC08-8024-778B-ECAA-61229935E82B}"/>
              </a:ext>
            </a:extLst>
          </p:cNvPr>
          <p:cNvSpPr txBox="1"/>
          <p:nvPr/>
        </p:nvSpPr>
        <p:spPr>
          <a:xfrm>
            <a:off x="1531466" y="31693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01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 02-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Enhancing Space-Time Video Super-Resolution via Spatial–Temporal Feature Interaction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Yue et al., 2025 | Neural Networks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FF6C4-7A96-A6F0-F6F8-93584CB8B585}"/>
              </a:ext>
            </a:extLst>
          </p:cNvPr>
          <p:cNvSpPr txBox="1"/>
          <p:nvPr/>
        </p:nvSpPr>
        <p:spPr>
          <a:xfrm>
            <a:off x="104186" y="1798723"/>
            <a:ext cx="62356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Uses the </a:t>
            </a:r>
            <a:r>
              <a:rPr lang="en-US" b="1" dirty="0"/>
              <a:t>Vimeo-90K Septuplet dataset</a:t>
            </a:r>
            <a:r>
              <a:rPr lang="en-US" dirty="0"/>
              <a:t> containing </a:t>
            </a:r>
            <a:r>
              <a:rPr lang="en-US" b="1" dirty="0"/>
              <a:t>91,701 video sequences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Each sequence contains </a:t>
            </a:r>
            <a:r>
              <a:rPr lang="en-US" b="1" dirty="0"/>
              <a:t>7 high-resolution frames</a:t>
            </a:r>
            <a:r>
              <a:rPr lang="en-US" dirty="0"/>
              <a:t> with a resolution of </a:t>
            </a:r>
            <a:r>
              <a:rPr lang="en-US" b="1" dirty="0"/>
              <a:t>448 × 256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Odd-indexed frames</a:t>
            </a:r>
            <a:r>
              <a:rPr lang="en-US" dirty="0"/>
              <a:t> are </a:t>
            </a:r>
            <a:r>
              <a:rPr lang="en-US" dirty="0" err="1"/>
              <a:t>downsampled</a:t>
            </a:r>
            <a:r>
              <a:rPr lang="en-US" dirty="0"/>
              <a:t> to </a:t>
            </a:r>
            <a:r>
              <a:rPr lang="en-US" b="1" dirty="0"/>
              <a:t>112 × 64</a:t>
            </a:r>
            <a:r>
              <a:rPr lang="en-US" dirty="0"/>
              <a:t> using </a:t>
            </a:r>
            <a:r>
              <a:rPr lang="en-US" b="1" dirty="0"/>
              <a:t>bicubic interpolation</a:t>
            </a:r>
            <a:r>
              <a:rPr lang="en-US" dirty="0"/>
              <a:t> to generate low-resolution inputs.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Vid4, Vimeo-90K test set, and Adobe240</a:t>
            </a:r>
            <a:r>
              <a:rPr lang="en-US" dirty="0"/>
              <a:t> are used for performance evaluation.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Vimeo-90K test videos are evaluated under </a:t>
            </a:r>
            <a:r>
              <a:rPr lang="en-US" b="1" dirty="0"/>
              <a:t>slow, medium, and fast motion</a:t>
            </a:r>
            <a:r>
              <a:rPr lang="en-US" dirty="0"/>
              <a:t>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Training is performed for </a:t>
            </a:r>
            <a:r>
              <a:rPr lang="en-US" b="1" dirty="0"/>
              <a:t>500,000 iterations</a:t>
            </a:r>
            <a:r>
              <a:rPr lang="en-US" dirty="0"/>
              <a:t> using </a:t>
            </a:r>
            <a:r>
              <a:rPr lang="en-US" b="1" dirty="0"/>
              <a:t>Adam optimizer</a:t>
            </a:r>
            <a:r>
              <a:rPr lang="en-US" dirty="0"/>
              <a:t>, batch size </a:t>
            </a:r>
            <a:r>
              <a:rPr lang="en-US" b="1" dirty="0"/>
              <a:t>30</a:t>
            </a:r>
            <a:r>
              <a:rPr lang="en-US" dirty="0"/>
              <a:t>, and </a:t>
            </a:r>
            <a:r>
              <a:rPr lang="en-US" b="1" dirty="0"/>
              <a:t>4 NVIDIA RTX 2080 GPUs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Performance is evaluated using </a:t>
            </a:r>
            <a:r>
              <a:rPr lang="en-US" b="1" dirty="0"/>
              <a:t>PSNR, SSIM, LPIPS, inference speed, and number of parameters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BD6EEE-0BC7-80D5-CA97-225D8018EF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02" t="18625" r="1088" b="11977"/>
          <a:stretch>
            <a:fillRect/>
          </a:stretch>
        </p:blipFill>
        <p:spPr>
          <a:xfrm>
            <a:off x="6695440" y="1625374"/>
            <a:ext cx="5248870" cy="43702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1AA177-4B83-8C58-5CAB-EBE0AE80EB4A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C81CDD-5F1D-582C-B7AE-09555AF3A0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CC3E4B-0256-9C1D-2F89-D85F71F9D892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1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10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 02-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Enhancing Space-Time Video Super-Resolution via Spatial–Temporal Feature Interaction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Yue et al., 2025 | Neural Networks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04D0A-4A27-B6B3-5322-E51FEB58EBB2}"/>
              </a:ext>
            </a:extLst>
          </p:cNvPr>
          <p:cNvSpPr txBox="1"/>
          <p:nvPr/>
        </p:nvSpPr>
        <p:spPr>
          <a:xfrm>
            <a:off x="286276" y="1832278"/>
            <a:ext cx="1137920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Achieves strong Peak Signal-to-Noise Ratio, Structural Similarity Index, and Learned Perceptual Image Patch Similarity performance on Vid4, Vimeo-90K, and Adobe240 benchmarks.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STINet</a:t>
            </a:r>
            <a:r>
              <a:rPr lang="en-US" dirty="0"/>
              <a:t> outperforms existing state-of-the-art Space-Time Video Super-Resolution methods across the evaluated benchmarks.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Spatial-Temporal feature interaction improves the reconstruction of fine details and motion information.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Spatial-Temporal Global Refinement with Graph Convolutional Network improves global spatial-temporal feature refinement and long-term temporal consistency.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Motion Consistency Loss improves the continuity and smoothness of motion between reconstructed frames.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multi-frame interpolation, reconstructing 3, 5, 7, and 9 intermediate frames.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Achieves 15.33 frames per second inference speed with 10.89 million parameters.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2FAEA-4751-D49A-081B-27CDDE4FB0EE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ABDFF2-326E-9892-66C7-0726CC4E13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BF56DD9-D057-228A-CEB5-CEC6CC5E001B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75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 02-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Enhancing Space-Time Video Super-Resolution via Spatial–Temporal Feature Interaction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Yue et al., 2025 | Neural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Spatial-temporal feature interaction improves details and motion.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ST-FI generates intermediate LR and HR features.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ST-LR and ST-GR provide local and global refinement.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GCN-based ST-GR improves information exchange across frames.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Motion Consistency Loss maintains smooth motion.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Supports 3, 5, 7, and 9 frame interpolation.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Complex multi-stage architecture.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Optical-flow and deformable processing add overhead.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GCN-based refinement increases complexity.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Requires large datasets and multiple GPUs.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Real-time inference needs further improvement.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841C6-0371-1004-EF78-96EAADC9314E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4DD8A4-7072-830A-98C6-31085EF139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5C61C78-6641-C788-EBAD-4A158D7588C0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8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 02-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Enhancing Space-Time Video Super-Resolution via Spatial–Temporal Feature Interaction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Yue et al., 2025 | Neural Networks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9EE97-85E3-A2B8-67BF-040BEA76F01D}"/>
              </a:ext>
            </a:extLst>
          </p:cNvPr>
          <p:cNvSpPr txBox="1"/>
          <p:nvPr/>
        </p:nvSpPr>
        <p:spPr>
          <a:xfrm>
            <a:off x="659770" y="1542534"/>
            <a:ext cx="11227429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joint spatial and temporal video enhancement.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Spatial-temporal feature interaction improves video quality.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ST-FI helps generate better intermediate frames.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ST-LR and ST-GR handle local and global motion.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GCN-based feature exchange improves cross-frame information sharing.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Motion Consistency Loss maintains smooth motion.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a reference method for our STNO-based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10C9A-EEFE-6511-F6D0-E38576419109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FB7773-11AD-6BCB-BDFC-6F5128CEBE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29D8560-C1F0-222F-6B66-7CEEEFAA9B77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03-MamEVSR: Event-based Video Super-Resolution via State Space Models</a:t>
            </a:r>
            <a:endParaRPr lang="en-US" sz="1600" dirty="0"/>
          </a:p>
          <a:p>
            <a:r>
              <a:rPr lang="en-US" sz="1600" b="1" dirty="0"/>
              <a:t>Xiao et al., 2025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62363-4E50-79B7-1105-2D2644C94BFB}"/>
              </a:ext>
            </a:extLst>
          </p:cNvPr>
          <p:cNvSpPr txBox="1"/>
          <p:nvPr/>
        </p:nvSpPr>
        <p:spPr>
          <a:xfrm>
            <a:off x="294477" y="1805728"/>
            <a:ext cx="11524388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Mamba-based State Space Models for video super-resolution.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Frame Feature Encoder extracts features from low-resolution frames.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Event Feature Encoder converts event data into useful features.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Interleaved Mamba (</a:t>
            </a:r>
            <a:r>
              <a:rPr lang="en-US" dirty="0" err="1"/>
              <a:t>iMamba</a:t>
            </a:r>
            <a:r>
              <a:rPr lang="en-US" dirty="0"/>
              <a:t>) captures information between adjacent frames.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Cross-Modality Mamba (</a:t>
            </a:r>
            <a:r>
              <a:rPr lang="en-US" dirty="0" err="1"/>
              <a:t>cMamba</a:t>
            </a:r>
            <a:r>
              <a:rPr lang="en-US" dirty="0"/>
              <a:t>) combines RGB and event information.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Bidirectional propagation uses both forward and backward temporal information.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 Reconstructor with Pixel Shuffle generates the final high-resolution video frames.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3F3C2-D550-B963-77D9-85DBC40D783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0BF1A9-7CFE-438A-1D63-3BFC29D5BB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72C1FAB-27BB-C134-A943-A760E4B0CAE6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9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03-MamEVSR: Event-based Video Super-Resolution via State Space Models</a:t>
            </a:r>
            <a:endParaRPr lang="en-US" sz="1600" dirty="0"/>
          </a:p>
          <a:p>
            <a:r>
              <a:rPr lang="en-US" sz="1600" b="1" dirty="0"/>
              <a:t>Xiao et al., 2025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3646E-9754-0459-255F-A3D736E06D43}"/>
              </a:ext>
            </a:extLst>
          </p:cNvPr>
          <p:cNvSpPr txBox="1"/>
          <p:nvPr/>
        </p:nvSpPr>
        <p:spPr>
          <a:xfrm>
            <a:off x="426718" y="1928212"/>
            <a:ext cx="11338560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the REDS dataset and Color Event Dataset for training and evaluation.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REDS4 is used for 4× video super-resolution evaluation with simulated event data.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Color Event Dataset contains synchronized RGB frames and event data captured using a DAVIS346 event camera.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15 input frames with an input resolution of 64 × 64 pixels during training.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Trained for 300,000 iterations using the Adam optimizer with a Cosine Annealing learning rate scheduler.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Training is conducted using 2 NVIDIA RTX 3090 graphics processing units.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Performance is evaluated using Peak Signal-to-Noise Ratio and Structural Similarity Index.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75B0D-DB73-8766-88BE-B577DD09EEAA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91CE-9ECD-073D-B78E-0D137E2E70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D7B256-8122-F1D3-66D9-9F8745E341D1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9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03-MamEVSR: Event-based Video Super-Resolution via State Space Models</a:t>
            </a:r>
            <a:endParaRPr lang="en-US" sz="1600" dirty="0"/>
          </a:p>
          <a:p>
            <a:r>
              <a:rPr lang="en-US" sz="1600" b="1" dirty="0"/>
              <a:t>Xiao et al., 2025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51EED-CF4A-1598-DC6F-ED87FB50F892}"/>
              </a:ext>
            </a:extLst>
          </p:cNvPr>
          <p:cNvSpPr txBox="1"/>
          <p:nvPr/>
        </p:nvSpPr>
        <p:spPr>
          <a:xfrm>
            <a:off x="257394" y="1764919"/>
            <a:ext cx="11710629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MamEVSR</a:t>
            </a:r>
            <a:r>
              <a:rPr lang="en-US" dirty="0"/>
              <a:t> consistently outperforms existing methods on the evaluated event-based video super-resolution datasets.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Achieves 32.94 dB Peak Signal-to-Noise Ratio and 0.9195 Structural Similarity Index on the REDS4 four-times evaluation.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Achieves 41.14 dB Peak Signal-to-Noise Ratio and 0.9831 Structural Similarity Index on the CED two-times evaluation.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Interleaved Mamba and Cross-Modality Mamba significantly contribute to reconstruction performance.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Bidirectional propagation improves the use of temporal information across frames.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Produces sharper details and textures, including wheel and license-plate regions, closer to the ground-truth images.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Provides high reconstruction quality with efficient computation and a modest parameter count.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E1F34-F45F-8F7C-DD22-D4775F765421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FEB0D-B8D5-9002-A1A3-6BFFA297CA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0278269-590D-0AFF-1D03-CA96298D93DD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51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03-MamEVSR: Event-based Video Super-Resolution via State Space Models</a:t>
            </a:r>
            <a:endParaRPr lang="en-US" sz="1600" dirty="0"/>
          </a:p>
          <a:p>
            <a:r>
              <a:rPr lang="en-US" sz="1600" b="1" dirty="0"/>
              <a:t>Xiao et al., 2025</a:t>
            </a:r>
            <a:endParaRPr lang="en-US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Mamba-based architecture provides efficient global feature modeling.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Interleaved Mamba enables effective bidirectional feature fusion.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Cross-Modality Mamba combines frame and event information for better motion details.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Bidirectional propagation uses information from both temporal directions.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Achieves high reconstruction quality on REDS4 and CED datasets.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Provides efficient computation with a modest number of parameters.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Struggles to recover very fine textures when input information is insufficient.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Low-resolution event data may not provide enough detailed information.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RGB information loss can affect texture reconstruction.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Requires event data, which is not available in standard video datasets.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paper suggests using longer temporal sequences to improve texture recovery.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Future work includes developing lighter-weight modules and extending the method to other video restoration 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E96D1-6D07-6F12-A6AE-A2E541E869BE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430BCD2-DA1C-9F03-4D8D-3525445901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45D3A68-7FFC-2168-2ADF-4A7DAE227D8B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16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Ref 03-MamEVSR: Event-based Video Super-Resolution via State Space Models</a:t>
            </a:r>
            <a:endParaRPr lang="en-US" sz="1600" dirty="0"/>
          </a:p>
          <a:p>
            <a:r>
              <a:rPr lang="en-US" sz="1600" b="1" dirty="0"/>
              <a:t>Xiao et al., 2025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3EAF9-E6D8-5A5F-D504-5871CC43021C}"/>
              </a:ext>
            </a:extLst>
          </p:cNvPr>
          <p:cNvSpPr txBox="1"/>
          <p:nvPr/>
        </p:nvSpPr>
        <p:spPr>
          <a:xfrm>
            <a:off x="281530" y="1695198"/>
            <a:ext cx="11145520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Mamba-based feature modeling provides an alternative approach for efficient video enhancement.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Bidirectional propagation supports the use of information from neighboring frames.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Cross-modality feature fusion provides ideas for combining different video information.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Interleaved Mamba can inspire efficient </a:t>
            </a:r>
            <a:r>
              <a:rPr lang="en-US" dirty="0" err="1"/>
              <a:t>spatio</a:t>
            </a:r>
            <a:r>
              <a:rPr lang="en-US" dirty="0"/>
              <a:t>-temporal feature processing.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Event-based motion information can help handle complex and fast motion.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method provides useful ideas for improving detail reconstruction and motion consistency.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the development of our Space-Time Neural Operator based video enhancement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791A6-53D5-2D29-8BAA-818A4F41AFE6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479C39-F657-348A-3625-C440C05DFB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5A1A73C-0E64-6A3C-3DFF-AF283C09FED6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20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19694"/>
              </p:ext>
            </p:extLst>
          </p:nvPr>
        </p:nvGraphicFramePr>
        <p:xfrm>
          <a:off x="457200" y="1408486"/>
          <a:ext cx="11287761" cy="4857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6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3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448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7992">
                <a:tc>
                  <a:txBody>
                    <a:bodyPr/>
                    <a:lstStyle/>
                    <a:p>
                      <a:r>
                        <a:rPr lang="en-US" dirty="0"/>
                        <a:t>Zhang et al. (STNO) base paper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Neural Operator + </a:t>
                      </a:r>
                      <a:r>
                        <a:rPr lang="en-US" b="1" dirty="0" err="1"/>
                        <a:t>Galerkin</a:t>
                      </a:r>
                      <a:r>
                        <a:rPr lang="en-US" b="1" dirty="0"/>
                        <a:t> Attention</a:t>
                      </a:r>
                      <a:r>
                        <a:rPr lang="en-US" dirty="0"/>
                        <a:t> for STVSR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motion modeling; linear complexity; fast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intra-frame modeling; end-to-end enhancement remains future work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7992">
                <a:tc>
                  <a:txBody>
                    <a:bodyPr/>
                    <a:lstStyle/>
                    <a:p>
                      <a:r>
                        <a:rPr lang="en-US" dirty="0"/>
                        <a:t>Yue &amp; Shi (</a:t>
                      </a:r>
                      <a:r>
                        <a:rPr lang="en-US" dirty="0" err="1"/>
                        <a:t>STINet</a:t>
                      </a:r>
                      <a:r>
                        <a:rPr lang="en-US" dirty="0"/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Spatial-temporal feature interaction</a:t>
                      </a:r>
                      <a:r>
                        <a:rPr lang="en-US" dirty="0"/>
                        <a:t> for STVSR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LR-HR interaction; local/global refinement; motion consistency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architecture; higher implementation/training cost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7529">
                <a:tc>
                  <a:txBody>
                    <a:bodyPr/>
                    <a:lstStyle/>
                    <a:p>
                      <a:r>
                        <a:rPr lang="en-US" dirty="0" err="1"/>
                        <a:t>MamEVSR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Event-based video super-resolution using Mamba-based state space models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Efficient temporal feature fusion; combines RGB and event information; improves motion details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event data; struggles with very fine textures; real-world event data can be limited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443D9E5-837C-28A8-859F-0F0365712D3D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4A6E99B-2FC6-810C-3615-3F0A0BA739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C116BB-5D9A-27D5-44B7-FBAA1F10B52C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85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98CB1-43FE-F616-74FA-6AEE59FA6BF1}"/>
              </a:ext>
            </a:extLst>
          </p:cNvPr>
          <p:cNvSpPr/>
          <p:nvPr/>
        </p:nvSpPr>
        <p:spPr>
          <a:xfrm>
            <a:off x="0" y="6451517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22-09-2026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AIM @ VVIT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1448" y="3010622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C9878-0E1F-7B53-1EC9-EF0E4A3EB296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1200" dirty="0" err="1"/>
              <a:t>Mrs</a:t>
            </a:r>
            <a:r>
              <a:rPr lang="en-US" sz="1200" dirty="0"/>
              <a:t> Deepthi </a:t>
            </a:r>
            <a:r>
              <a:rPr lang="en-US" sz="1200" dirty="0" err="1"/>
              <a:t>Ketineni</a:t>
            </a:r>
            <a:r>
              <a:rPr lang="en-US" sz="1200" dirty="0"/>
              <a:t> Asst. Prof.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ID:AIM-B12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24BQ5A6111,                         23BQ1A6190,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24BQ5A6133,                         23BQ1A6155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11D9F4-F885-2C9B-904E-718E2559B2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9CF1125-96B9-34A2-AEB2-8816C13B166E}"/>
              </a:ext>
            </a:extLst>
          </p:cNvPr>
          <p:cNvSpPr txBox="1"/>
          <p:nvPr/>
        </p:nvSpPr>
        <p:spPr>
          <a:xfrm>
            <a:off x="1531466" y="306773"/>
            <a:ext cx="742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Space-Time Neural Operator Based Video Enhancement System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04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2872</Words>
  <Application>Microsoft Office PowerPoint</Application>
  <PresentationFormat>Widescreen</PresentationFormat>
  <Paragraphs>388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mualidhar V</dc:creator>
  <cp:lastModifiedBy>Panchumarthi Tarun</cp:lastModifiedBy>
  <cp:revision>62</cp:revision>
  <dcterms:created xsi:type="dcterms:W3CDTF">2023-07-18T12:47:32Z</dcterms:created>
  <dcterms:modified xsi:type="dcterms:W3CDTF">2026-09-22T14:49:59Z</dcterms:modified>
</cp:coreProperties>
</file>